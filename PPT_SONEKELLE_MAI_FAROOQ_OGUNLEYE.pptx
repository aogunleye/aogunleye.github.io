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maranth" charset="1" panose="02000503050000020004"/>
      <p:regular r:id="rId17"/>
    </p:embeddedFont>
    <p:embeddedFont>
      <p:font typeface="Questrial" charset="1" panose="02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684062" y="-1985636"/>
            <a:ext cx="9425525" cy="8979955"/>
          </a:xfrm>
          <a:custGeom>
            <a:avLst/>
            <a:gdLst/>
            <a:ahLst/>
            <a:cxnLst/>
            <a:rect r="r" b="b" t="t" l="l"/>
            <a:pathLst>
              <a:path h="8979955" w="9425525">
                <a:moveTo>
                  <a:pt x="0" y="0"/>
                </a:moveTo>
                <a:lnTo>
                  <a:pt x="9425524" y="0"/>
                </a:lnTo>
                <a:lnTo>
                  <a:pt x="9425524" y="8979954"/>
                </a:lnTo>
                <a:lnTo>
                  <a:pt x="0" y="8979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715648" y="-292253"/>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362269" y="8557519"/>
            <a:ext cx="5502974" cy="2621417"/>
          </a:xfrm>
          <a:custGeom>
            <a:avLst/>
            <a:gdLst/>
            <a:ahLst/>
            <a:cxnLst/>
            <a:rect r="r" b="b" t="t" l="l"/>
            <a:pathLst>
              <a:path h="2621417" w="5502974">
                <a:moveTo>
                  <a:pt x="0" y="0"/>
                </a:moveTo>
                <a:lnTo>
                  <a:pt x="5502974" y="0"/>
                </a:lnTo>
                <a:lnTo>
                  <a:pt x="5502974" y="2621417"/>
                </a:lnTo>
                <a:lnTo>
                  <a:pt x="0" y="26214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0" y="9099879"/>
            <a:ext cx="4130590" cy="1032647"/>
          </a:xfrm>
          <a:custGeom>
            <a:avLst/>
            <a:gdLst/>
            <a:ahLst/>
            <a:cxnLst/>
            <a:rect r="r" b="b" t="t" l="l"/>
            <a:pathLst>
              <a:path h="1032647" w="4130590">
                <a:moveTo>
                  <a:pt x="0" y="0"/>
                </a:moveTo>
                <a:lnTo>
                  <a:pt x="4130590" y="0"/>
                </a:lnTo>
                <a:lnTo>
                  <a:pt x="4130590" y="1032648"/>
                </a:lnTo>
                <a:lnTo>
                  <a:pt x="0" y="1032648"/>
                </a:lnTo>
                <a:lnTo>
                  <a:pt x="0" y="0"/>
                </a:lnTo>
                <a:close/>
              </a:path>
            </a:pathLst>
          </a:custGeom>
          <a:blipFill>
            <a:blip r:embed="rId9"/>
            <a:stretch>
              <a:fillRect l="0" t="0" r="0" b="0"/>
            </a:stretch>
          </a:blipFill>
        </p:spPr>
      </p:sp>
      <p:sp>
        <p:nvSpPr>
          <p:cNvPr name="TextBox 7" id="7"/>
          <p:cNvSpPr txBox="true"/>
          <p:nvPr/>
        </p:nvSpPr>
        <p:spPr>
          <a:xfrm rot="0">
            <a:off x="1342517" y="5103096"/>
            <a:ext cx="15916783" cy="1123950"/>
          </a:xfrm>
          <a:prstGeom prst="rect">
            <a:avLst/>
          </a:prstGeom>
        </p:spPr>
        <p:txBody>
          <a:bodyPr anchor="t" rtlCol="false" tIns="0" lIns="0" bIns="0" rIns="0">
            <a:spAutoFit/>
          </a:bodyPr>
          <a:lstStyle/>
          <a:p>
            <a:pPr algn="ctr" marL="0" indent="0" lvl="0">
              <a:lnSpc>
                <a:spcPts val="8995"/>
              </a:lnSpc>
              <a:spcBef>
                <a:spcPct val="0"/>
              </a:spcBef>
            </a:pPr>
            <a:r>
              <a:rPr lang="en-US" sz="7495" spc="74">
                <a:solidFill>
                  <a:srgbClr val="000000"/>
                </a:solidFill>
                <a:latin typeface="Amaranth"/>
                <a:ea typeface="Amaranth"/>
                <a:cs typeface="Amaranth"/>
                <a:sym typeface="Amaranth"/>
              </a:rPr>
              <a:t>SUR DES DONNÉES RELATIONNELLES</a:t>
            </a:r>
          </a:p>
        </p:txBody>
      </p:sp>
      <p:sp>
        <p:nvSpPr>
          <p:cNvPr name="TextBox 8" id="8"/>
          <p:cNvSpPr txBox="true"/>
          <p:nvPr/>
        </p:nvSpPr>
        <p:spPr>
          <a:xfrm rot="0">
            <a:off x="4282515" y="3436219"/>
            <a:ext cx="9722970" cy="1533525"/>
          </a:xfrm>
          <a:prstGeom prst="rect">
            <a:avLst/>
          </a:prstGeom>
        </p:spPr>
        <p:txBody>
          <a:bodyPr anchor="t" rtlCol="false" tIns="0" lIns="0" bIns="0" rIns="0">
            <a:spAutoFit/>
          </a:bodyPr>
          <a:lstStyle/>
          <a:p>
            <a:pPr algn="ctr" marL="0" indent="0" lvl="0">
              <a:lnSpc>
                <a:spcPts val="12019"/>
              </a:lnSpc>
              <a:spcBef>
                <a:spcPct val="0"/>
              </a:spcBef>
            </a:pPr>
            <a:r>
              <a:rPr lang="en-US" sz="10016" spc="300">
                <a:solidFill>
                  <a:srgbClr val="000000"/>
                </a:solidFill>
                <a:latin typeface="Amaranth"/>
                <a:ea typeface="Amaranth"/>
                <a:cs typeface="Amaranth"/>
                <a:sym typeface="Amaranth"/>
              </a:rPr>
              <a:t>SAE REPORTING</a:t>
            </a:r>
          </a:p>
        </p:txBody>
      </p:sp>
      <p:sp>
        <p:nvSpPr>
          <p:cNvPr name="TextBox 9" id="9"/>
          <p:cNvSpPr txBox="true"/>
          <p:nvPr/>
        </p:nvSpPr>
        <p:spPr>
          <a:xfrm rot="0">
            <a:off x="2533903" y="6540928"/>
            <a:ext cx="13220194" cy="453390"/>
          </a:xfrm>
          <a:prstGeom prst="rect">
            <a:avLst/>
          </a:prstGeom>
        </p:spPr>
        <p:txBody>
          <a:bodyPr anchor="t" rtlCol="false" tIns="0" lIns="0" bIns="0" rIns="0">
            <a:spAutoFit/>
          </a:bodyPr>
          <a:lstStyle/>
          <a:p>
            <a:pPr algn="ctr" marL="0" indent="0" lvl="0">
              <a:lnSpc>
                <a:spcPts val="3899"/>
              </a:lnSpc>
              <a:spcBef>
                <a:spcPct val="0"/>
              </a:spcBef>
            </a:pPr>
            <a:r>
              <a:rPr lang="en-US" sz="2599" spc="77">
                <a:solidFill>
                  <a:srgbClr val="3F3E3A"/>
                </a:solidFill>
                <a:latin typeface="Amaranth"/>
                <a:ea typeface="Amaranth"/>
                <a:cs typeface="Amaranth"/>
                <a:sym typeface="Amaranth"/>
              </a:rPr>
              <a:t>Abdulqudus OGUNLEYE, Axel SONE KELLE, Diana MAI, Safia FAROOQ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373009" y="3425750"/>
            <a:ext cx="11745299" cy="3435500"/>
          </a:xfrm>
          <a:custGeom>
            <a:avLst/>
            <a:gdLst/>
            <a:ahLst/>
            <a:cxnLst/>
            <a:rect r="r" b="b" t="t" l="l"/>
            <a:pathLst>
              <a:path h="3435500" w="11745299">
                <a:moveTo>
                  <a:pt x="0" y="0"/>
                </a:moveTo>
                <a:lnTo>
                  <a:pt x="11745298" y="0"/>
                </a:lnTo>
                <a:lnTo>
                  <a:pt x="11745298" y="3435500"/>
                </a:lnTo>
                <a:lnTo>
                  <a:pt x="0" y="3435500"/>
                </a:lnTo>
                <a:lnTo>
                  <a:pt x="0" y="0"/>
                </a:lnTo>
                <a:close/>
              </a:path>
            </a:pathLst>
          </a:custGeom>
          <a:blipFill>
            <a:blip r:embed="rId3"/>
            <a:stretch>
              <a:fillRect l="0" t="0" r="0" b="0"/>
            </a:stretch>
          </a:blipFill>
        </p:spPr>
      </p:sp>
      <p:sp>
        <p:nvSpPr>
          <p:cNvPr name="TextBox 4" id="4"/>
          <p:cNvSpPr txBox="true"/>
          <p:nvPr/>
        </p:nvSpPr>
        <p:spPr>
          <a:xfrm rot="0">
            <a:off x="180295" y="1901006"/>
            <a:ext cx="4775105" cy="722631"/>
          </a:xfrm>
          <a:prstGeom prst="rect">
            <a:avLst/>
          </a:prstGeom>
        </p:spPr>
        <p:txBody>
          <a:bodyPr anchor="t" rtlCol="false" tIns="0" lIns="0" bIns="0" rIns="0">
            <a:spAutoFit/>
          </a:bodyPr>
          <a:lstStyle/>
          <a:p>
            <a:pPr algn="ctr" marL="0" indent="0" lvl="0">
              <a:lnSpc>
                <a:spcPts val="5335"/>
              </a:lnSpc>
              <a:spcBef>
                <a:spcPct val="0"/>
              </a:spcBef>
            </a:pPr>
            <a:r>
              <a:rPr lang="en-US" sz="5500">
                <a:solidFill>
                  <a:srgbClr val="000000"/>
                </a:solidFill>
                <a:latin typeface="Amaranth"/>
                <a:ea typeface="Amaranth"/>
                <a:cs typeface="Amaranth"/>
                <a:sym typeface="Amaranth"/>
              </a:rPr>
              <a:t>VISION CLIENT</a:t>
            </a:r>
          </a:p>
        </p:txBody>
      </p:sp>
      <p:sp>
        <p:nvSpPr>
          <p:cNvPr name="TextBox 5" id="5"/>
          <p:cNvSpPr txBox="true"/>
          <p:nvPr/>
        </p:nvSpPr>
        <p:spPr>
          <a:xfrm rot="0">
            <a:off x="180295" y="2964214"/>
            <a:ext cx="5872948" cy="5031266"/>
          </a:xfrm>
          <a:prstGeom prst="rect">
            <a:avLst/>
          </a:prstGeom>
        </p:spPr>
        <p:txBody>
          <a:bodyPr anchor="t" rtlCol="false" tIns="0" lIns="0" bIns="0" rIns="0">
            <a:spAutoFit/>
          </a:bodyPr>
          <a:lstStyle/>
          <a:p>
            <a:pPr algn="just">
              <a:lnSpc>
                <a:spcPts val="2511"/>
              </a:lnSpc>
            </a:pPr>
            <a:r>
              <a:rPr lang="en-US" sz="1793">
                <a:solidFill>
                  <a:srgbClr val="000000"/>
                </a:solidFill>
                <a:latin typeface="Questrial"/>
                <a:ea typeface="Questrial"/>
                <a:cs typeface="Questrial"/>
                <a:sym typeface="Questrial"/>
              </a:rPr>
              <a:t>Les films les plus loués jouent un rôle central en attirant et fidélisant un large public, tandis que les titres générant le plus de revenus témoignent de leur popularité ou de leur positionnement premium. La date de première location, quant à elle, permet de repérer les films qui connaissent une longévité remarquable ou qui se distinguent rapidement parmi les nouveautés.</a:t>
            </a:r>
          </a:p>
          <a:p>
            <a:pPr algn="just">
              <a:lnSpc>
                <a:spcPts val="2511"/>
              </a:lnSpc>
            </a:pPr>
          </a:p>
          <a:p>
            <a:pPr algn="just">
              <a:lnSpc>
                <a:spcPts val="2511"/>
              </a:lnSpc>
            </a:pPr>
            <a:r>
              <a:rPr lang="en-US" sz="1793">
                <a:solidFill>
                  <a:srgbClr val="000000"/>
                </a:solidFill>
                <a:latin typeface="Questrial"/>
                <a:ea typeface="Questrial"/>
                <a:cs typeface="Questrial"/>
                <a:sym typeface="Questrial"/>
              </a:rPr>
              <a:t>Il serait judicieux de promouvoir les films les plus rentables à travers des offres groupées ou des suggestions automatiques, tout en lançant des campagnes marketing spécifiques pour les nouveautés prometteuses. Par ailleurs, une analyse des films moins performants mais potentiellement intéressants pourrait permettre d’ajuster la stratégie et de mieux répondre aux attentes des clients.</a:t>
            </a:r>
          </a:p>
          <a:p>
            <a:pPr algn="just">
              <a:lnSpc>
                <a:spcPts val="2511"/>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43916" y="6240915"/>
            <a:ext cx="11301259" cy="1539797"/>
          </a:xfrm>
          <a:custGeom>
            <a:avLst/>
            <a:gdLst/>
            <a:ahLst/>
            <a:cxnLst/>
            <a:rect r="r" b="b" t="t" l="l"/>
            <a:pathLst>
              <a:path h="1539797" w="11301259">
                <a:moveTo>
                  <a:pt x="0" y="0"/>
                </a:moveTo>
                <a:lnTo>
                  <a:pt x="11301259" y="0"/>
                </a:lnTo>
                <a:lnTo>
                  <a:pt x="11301259" y="1539797"/>
                </a:lnTo>
                <a:lnTo>
                  <a:pt x="0" y="1539797"/>
                </a:lnTo>
                <a:lnTo>
                  <a:pt x="0" y="0"/>
                </a:lnTo>
                <a:close/>
              </a:path>
            </a:pathLst>
          </a:custGeom>
          <a:blipFill>
            <a:blip r:embed="rId3"/>
            <a:stretch>
              <a:fillRect l="0" t="0" r="0" b="0"/>
            </a:stretch>
          </a:blipFill>
        </p:spPr>
      </p:sp>
      <p:sp>
        <p:nvSpPr>
          <p:cNvPr name="Freeform 4" id="4"/>
          <p:cNvSpPr/>
          <p:nvPr/>
        </p:nvSpPr>
        <p:spPr>
          <a:xfrm flipH="false" flipV="false" rot="0">
            <a:off x="343916" y="3518615"/>
            <a:ext cx="11301259" cy="2274378"/>
          </a:xfrm>
          <a:custGeom>
            <a:avLst/>
            <a:gdLst/>
            <a:ahLst/>
            <a:cxnLst/>
            <a:rect r="r" b="b" t="t" l="l"/>
            <a:pathLst>
              <a:path h="2274378" w="11301259">
                <a:moveTo>
                  <a:pt x="0" y="0"/>
                </a:moveTo>
                <a:lnTo>
                  <a:pt x="11301259" y="0"/>
                </a:lnTo>
                <a:lnTo>
                  <a:pt x="11301259" y="2274379"/>
                </a:lnTo>
                <a:lnTo>
                  <a:pt x="0" y="2274379"/>
                </a:lnTo>
                <a:lnTo>
                  <a:pt x="0" y="0"/>
                </a:lnTo>
                <a:close/>
              </a:path>
            </a:pathLst>
          </a:custGeom>
          <a:blipFill>
            <a:blip r:embed="rId4"/>
            <a:stretch>
              <a:fillRect l="0" t="0" r="0" b="0"/>
            </a:stretch>
          </a:blipFill>
        </p:spPr>
      </p:sp>
      <p:sp>
        <p:nvSpPr>
          <p:cNvPr name="Freeform 5" id="5"/>
          <p:cNvSpPr/>
          <p:nvPr/>
        </p:nvSpPr>
        <p:spPr>
          <a:xfrm flipH="false" flipV="false" rot="0">
            <a:off x="12218659" y="5792994"/>
            <a:ext cx="5273380" cy="1562838"/>
          </a:xfrm>
          <a:custGeom>
            <a:avLst/>
            <a:gdLst/>
            <a:ahLst/>
            <a:cxnLst/>
            <a:rect r="r" b="b" t="t" l="l"/>
            <a:pathLst>
              <a:path h="1562838" w="5273380">
                <a:moveTo>
                  <a:pt x="0" y="0"/>
                </a:moveTo>
                <a:lnTo>
                  <a:pt x="5273380" y="0"/>
                </a:lnTo>
                <a:lnTo>
                  <a:pt x="5273380" y="1562838"/>
                </a:lnTo>
                <a:lnTo>
                  <a:pt x="0" y="15628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43916" y="1768233"/>
            <a:ext cx="5926076" cy="828675"/>
          </a:xfrm>
          <a:prstGeom prst="rect">
            <a:avLst/>
          </a:prstGeom>
        </p:spPr>
        <p:txBody>
          <a:bodyPr anchor="t" rtlCol="false" tIns="0" lIns="0" bIns="0" rIns="0">
            <a:spAutoFit/>
          </a:bodyPr>
          <a:lstStyle/>
          <a:p>
            <a:pPr algn="ctr" marL="0" indent="0" lvl="0">
              <a:lnSpc>
                <a:spcPts val="6597"/>
              </a:lnSpc>
              <a:spcBef>
                <a:spcPct val="0"/>
              </a:spcBef>
            </a:pPr>
            <a:r>
              <a:rPr lang="en-US" sz="5497">
                <a:solidFill>
                  <a:srgbClr val="000000"/>
                </a:solidFill>
                <a:latin typeface="Amaranth"/>
                <a:ea typeface="Amaranth"/>
                <a:cs typeface="Amaranth"/>
                <a:sym typeface="Amaranth"/>
              </a:rPr>
              <a:t>VISION LOCATIONS</a:t>
            </a:r>
          </a:p>
        </p:txBody>
      </p:sp>
      <p:sp>
        <p:nvSpPr>
          <p:cNvPr name="TextBox 7" id="7"/>
          <p:cNvSpPr txBox="true"/>
          <p:nvPr/>
        </p:nvSpPr>
        <p:spPr>
          <a:xfrm rot="0">
            <a:off x="12046040" y="3480515"/>
            <a:ext cx="5618619" cy="1286999"/>
          </a:xfrm>
          <a:prstGeom prst="rect">
            <a:avLst/>
          </a:prstGeom>
        </p:spPr>
        <p:txBody>
          <a:bodyPr anchor="t" rtlCol="false" tIns="0" lIns="0" bIns="0" rIns="0">
            <a:spAutoFit/>
          </a:bodyPr>
          <a:lstStyle/>
          <a:p>
            <a:pPr algn="l">
              <a:lnSpc>
                <a:spcPts val="2563"/>
              </a:lnSpc>
            </a:pPr>
            <a:r>
              <a:rPr lang="en-US" sz="1830">
                <a:solidFill>
                  <a:srgbClr val="000000"/>
                </a:solidFill>
                <a:latin typeface="Questrial"/>
                <a:ea typeface="Questrial"/>
                <a:cs typeface="Questrial"/>
                <a:sym typeface="Questrial"/>
              </a:rPr>
              <a:t>Une prédominance du mardi est remarquée, réflétant </a:t>
            </a:r>
          </a:p>
          <a:p>
            <a:pPr algn="l">
              <a:lnSpc>
                <a:spcPts val="2563"/>
              </a:lnSpc>
            </a:pPr>
            <a:r>
              <a:rPr lang="en-US" sz="1830">
                <a:solidFill>
                  <a:srgbClr val="000000"/>
                </a:solidFill>
                <a:latin typeface="Questrial"/>
                <a:ea typeface="Questrial"/>
                <a:cs typeface="Questrial"/>
                <a:sym typeface="Questrial"/>
              </a:rPr>
              <a:t>ainsi une une préférence pour des locations en </a:t>
            </a:r>
          </a:p>
          <a:p>
            <a:pPr algn="l">
              <a:lnSpc>
                <a:spcPts val="2563"/>
              </a:lnSpc>
            </a:pPr>
            <a:r>
              <a:rPr lang="en-US" sz="1830">
                <a:solidFill>
                  <a:srgbClr val="000000"/>
                </a:solidFill>
                <a:latin typeface="Questrial"/>
                <a:ea typeface="Questrial"/>
                <a:cs typeface="Questrial"/>
                <a:sym typeface="Questrial"/>
              </a:rPr>
              <a:t>début de semaine. Et les locations sont essentiellement concentrées en après-midi.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10553" y="5623084"/>
            <a:ext cx="7683743" cy="2881404"/>
          </a:xfrm>
          <a:custGeom>
            <a:avLst/>
            <a:gdLst/>
            <a:ahLst/>
            <a:cxnLst/>
            <a:rect r="r" b="b" t="t" l="l"/>
            <a:pathLst>
              <a:path h="2881404" w="7683743">
                <a:moveTo>
                  <a:pt x="0" y="0"/>
                </a:moveTo>
                <a:lnTo>
                  <a:pt x="7683743" y="0"/>
                </a:lnTo>
                <a:lnTo>
                  <a:pt x="7683743" y="2881404"/>
                </a:lnTo>
                <a:lnTo>
                  <a:pt x="0" y="2881404"/>
                </a:lnTo>
                <a:lnTo>
                  <a:pt x="0" y="0"/>
                </a:lnTo>
                <a:close/>
              </a:path>
            </a:pathLst>
          </a:custGeom>
          <a:blipFill>
            <a:blip r:embed="rId3"/>
            <a:stretch>
              <a:fillRect l="0" t="0" r="0" b="0"/>
            </a:stretch>
          </a:blipFill>
        </p:spPr>
      </p:sp>
      <p:sp>
        <p:nvSpPr>
          <p:cNvPr name="Freeform 4" id="4"/>
          <p:cNvSpPr/>
          <p:nvPr/>
        </p:nvSpPr>
        <p:spPr>
          <a:xfrm flipH="false" flipV="false" rot="0">
            <a:off x="8815705" y="5623084"/>
            <a:ext cx="9124167" cy="2881404"/>
          </a:xfrm>
          <a:custGeom>
            <a:avLst/>
            <a:gdLst/>
            <a:ahLst/>
            <a:cxnLst/>
            <a:rect r="r" b="b" t="t" l="l"/>
            <a:pathLst>
              <a:path h="2881404" w="9124167">
                <a:moveTo>
                  <a:pt x="0" y="0"/>
                </a:moveTo>
                <a:lnTo>
                  <a:pt x="9124166" y="0"/>
                </a:lnTo>
                <a:lnTo>
                  <a:pt x="9124166" y="2881404"/>
                </a:lnTo>
                <a:lnTo>
                  <a:pt x="0" y="2881404"/>
                </a:lnTo>
                <a:lnTo>
                  <a:pt x="0" y="0"/>
                </a:lnTo>
                <a:close/>
              </a:path>
            </a:pathLst>
          </a:custGeom>
          <a:blipFill>
            <a:blip r:embed="rId4"/>
            <a:stretch>
              <a:fillRect l="0" t="0" r="-4396" b="0"/>
            </a:stretch>
          </a:blipFill>
        </p:spPr>
      </p:sp>
      <p:sp>
        <p:nvSpPr>
          <p:cNvPr name="TextBox 5" id="5"/>
          <p:cNvSpPr txBox="true"/>
          <p:nvPr/>
        </p:nvSpPr>
        <p:spPr>
          <a:xfrm rot="0">
            <a:off x="310553" y="1835455"/>
            <a:ext cx="6555866" cy="659130"/>
          </a:xfrm>
          <a:prstGeom prst="rect">
            <a:avLst/>
          </a:prstGeom>
        </p:spPr>
        <p:txBody>
          <a:bodyPr anchor="t" rtlCol="false" tIns="0" lIns="0" bIns="0" rIns="0">
            <a:spAutoFit/>
          </a:bodyPr>
          <a:lstStyle/>
          <a:p>
            <a:pPr algn="ctr">
              <a:lnSpc>
                <a:spcPts val="4784"/>
              </a:lnSpc>
            </a:pPr>
            <a:r>
              <a:rPr lang="en-US" sz="5499" spc="54">
                <a:solidFill>
                  <a:srgbClr val="000000"/>
                </a:solidFill>
                <a:latin typeface="Amaranth"/>
                <a:ea typeface="Amaranth"/>
                <a:cs typeface="Amaranth"/>
                <a:sym typeface="Amaranth"/>
              </a:rPr>
              <a:t>CATÉGORIE DE FILMS</a:t>
            </a:r>
          </a:p>
        </p:txBody>
      </p:sp>
      <p:sp>
        <p:nvSpPr>
          <p:cNvPr name="TextBox 6" id="6"/>
          <p:cNvSpPr txBox="true"/>
          <p:nvPr/>
        </p:nvSpPr>
        <p:spPr>
          <a:xfrm rot="0">
            <a:off x="310553" y="2945263"/>
            <a:ext cx="7524406" cy="2202180"/>
          </a:xfrm>
          <a:prstGeom prst="rect">
            <a:avLst/>
          </a:prstGeom>
        </p:spPr>
        <p:txBody>
          <a:bodyPr anchor="t" rtlCol="false" tIns="0" lIns="0" bIns="0" rIns="0">
            <a:spAutoFit/>
          </a:bodyPr>
          <a:lstStyle/>
          <a:p>
            <a:pPr algn="just">
              <a:lnSpc>
                <a:spcPts val="2520"/>
              </a:lnSpc>
            </a:pPr>
            <a:r>
              <a:rPr lang="en-US" sz="1800">
                <a:solidFill>
                  <a:srgbClr val="000000"/>
                </a:solidFill>
                <a:latin typeface="Questrial"/>
                <a:ea typeface="Questrial"/>
                <a:cs typeface="Questrial"/>
                <a:sym typeface="Questrial"/>
              </a:rPr>
              <a:t>Les catégories avec le plus de locations, comme les sports, l’animation et l’action, reflètent bien les goûts dominants des clients. Il est recommandé d’investir davantage dans les stocks de films des catégories dominantes tout en diversifiant les offres, notamment en mettant en avant des catégories moins populaires mais prometteuses, comme le documentaire ou le drame.</a:t>
            </a:r>
          </a:p>
          <a:p>
            <a:pPr algn="l">
              <a:lnSpc>
                <a:spcPts val="2520"/>
              </a:lnSpc>
            </a:pPr>
          </a:p>
        </p:txBody>
      </p:sp>
      <p:sp>
        <p:nvSpPr>
          <p:cNvPr name="TextBox 7" id="7"/>
          <p:cNvSpPr txBox="true"/>
          <p:nvPr/>
        </p:nvSpPr>
        <p:spPr>
          <a:xfrm rot="0">
            <a:off x="8887465" y="2945263"/>
            <a:ext cx="8063105" cy="1843910"/>
          </a:xfrm>
          <a:prstGeom prst="rect">
            <a:avLst/>
          </a:prstGeom>
        </p:spPr>
        <p:txBody>
          <a:bodyPr anchor="t" rtlCol="false" tIns="0" lIns="0" bIns="0" rIns="0">
            <a:spAutoFit/>
          </a:bodyPr>
          <a:lstStyle/>
          <a:p>
            <a:pPr algn="just">
              <a:lnSpc>
                <a:spcPts val="2520"/>
              </a:lnSpc>
            </a:pPr>
            <a:r>
              <a:rPr lang="en-US" sz="1800">
                <a:solidFill>
                  <a:srgbClr val="000000"/>
                </a:solidFill>
                <a:latin typeface="Questrial"/>
                <a:ea typeface="Questrial"/>
                <a:cs typeface="Questrial"/>
                <a:sym typeface="Questrial"/>
              </a:rPr>
              <a:t>La segmentation en super-catégories permet de regrouper les données pour observer des tendances plus générales (narration vs. divertissement, etc.).</a:t>
            </a:r>
          </a:p>
          <a:p>
            <a:pPr algn="just">
              <a:lnSpc>
                <a:spcPts val="2520"/>
              </a:lnSpc>
            </a:pPr>
            <a:r>
              <a:rPr lang="en-US" sz="1800">
                <a:solidFill>
                  <a:srgbClr val="000000"/>
                </a:solidFill>
                <a:latin typeface="Questrial"/>
                <a:ea typeface="Questrial"/>
                <a:cs typeface="Questrial"/>
                <a:sym typeface="Questrial"/>
              </a:rPr>
              <a:t>On peut ainsi avoir l’idée de créer des thèmes ou collections basés sur les super-catégories pour attirer un public spécifique, comme une “soirée Narration” ou un “marathon Divertissement” par exemple.</a:t>
            </a:r>
          </a:p>
          <a:p>
            <a:pPr algn="just">
              <a:lnSpc>
                <a:spcPts val="2114"/>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96116" y="3471464"/>
            <a:ext cx="8747884" cy="3313261"/>
          </a:xfrm>
          <a:custGeom>
            <a:avLst/>
            <a:gdLst/>
            <a:ahLst/>
            <a:cxnLst/>
            <a:rect r="r" b="b" t="t" l="l"/>
            <a:pathLst>
              <a:path h="3313261" w="8747884">
                <a:moveTo>
                  <a:pt x="0" y="0"/>
                </a:moveTo>
                <a:lnTo>
                  <a:pt x="8747884" y="0"/>
                </a:lnTo>
                <a:lnTo>
                  <a:pt x="8747884" y="3313261"/>
                </a:lnTo>
                <a:lnTo>
                  <a:pt x="0" y="3313261"/>
                </a:lnTo>
                <a:lnTo>
                  <a:pt x="0" y="0"/>
                </a:lnTo>
                <a:close/>
              </a:path>
            </a:pathLst>
          </a:custGeom>
          <a:blipFill>
            <a:blip r:embed="rId3"/>
            <a:stretch>
              <a:fillRect l="0" t="0" r="0" b="0"/>
            </a:stretch>
          </a:blipFill>
        </p:spPr>
      </p:sp>
      <p:sp>
        <p:nvSpPr>
          <p:cNvPr name="TextBox 4" id="4"/>
          <p:cNvSpPr txBox="true"/>
          <p:nvPr/>
        </p:nvSpPr>
        <p:spPr>
          <a:xfrm rot="0">
            <a:off x="214770" y="1938909"/>
            <a:ext cx="7087182" cy="722631"/>
          </a:xfrm>
          <a:prstGeom prst="rect">
            <a:avLst/>
          </a:prstGeom>
        </p:spPr>
        <p:txBody>
          <a:bodyPr anchor="t" rtlCol="false" tIns="0" lIns="0" bIns="0" rIns="0">
            <a:spAutoFit/>
          </a:bodyPr>
          <a:lstStyle/>
          <a:p>
            <a:pPr algn="ctr" marL="0" indent="0" lvl="0">
              <a:lnSpc>
                <a:spcPts val="5335"/>
              </a:lnSpc>
              <a:spcBef>
                <a:spcPct val="0"/>
              </a:spcBef>
            </a:pPr>
            <a:r>
              <a:rPr lang="en-US" sz="5500">
                <a:solidFill>
                  <a:srgbClr val="000000"/>
                </a:solidFill>
                <a:latin typeface="Amaranth"/>
                <a:ea typeface="Amaranth"/>
                <a:cs typeface="Amaranth"/>
                <a:sym typeface="Amaranth"/>
              </a:rPr>
              <a:t>FILMS SANS LOCATION</a:t>
            </a:r>
          </a:p>
        </p:txBody>
      </p:sp>
      <p:sp>
        <p:nvSpPr>
          <p:cNvPr name="TextBox 5" id="5"/>
          <p:cNvSpPr txBox="true"/>
          <p:nvPr/>
        </p:nvSpPr>
        <p:spPr>
          <a:xfrm rot="0">
            <a:off x="9565708" y="3872382"/>
            <a:ext cx="8181321" cy="2499224"/>
          </a:xfrm>
          <a:prstGeom prst="rect">
            <a:avLst/>
          </a:prstGeom>
        </p:spPr>
        <p:txBody>
          <a:bodyPr anchor="t" rtlCol="false" tIns="0" lIns="0" bIns="0" rIns="0">
            <a:spAutoFit/>
          </a:bodyPr>
          <a:lstStyle/>
          <a:p>
            <a:pPr algn="just">
              <a:lnSpc>
                <a:spcPts val="2841"/>
              </a:lnSpc>
            </a:pPr>
            <a:r>
              <a:rPr lang="en-US" sz="2029">
                <a:solidFill>
                  <a:srgbClr val="000000"/>
                </a:solidFill>
                <a:latin typeface="Questrial"/>
                <a:ea typeface="Questrial"/>
                <a:cs typeface="Questrial"/>
                <a:sym typeface="Questrial"/>
              </a:rPr>
              <a:t>Les films qui n’ont jamais suscité de location offrent une occasion de raviver l’intérêt des clients à travers des actions telles que des promotions ou une mise en avant accrue. Pour y remédier, il pourrait être pertinent d’organiser une campagne spéciale de “redécouverte” associée à des activités et des offres promotionnelles. Par ailleurs, une analyse des causes potentielles, comme un manque de visibilité ou un intérêt limité, permettrait d’ajuster les catalogues en conséquence.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79108" y="3966567"/>
            <a:ext cx="8946026" cy="3991555"/>
          </a:xfrm>
          <a:custGeom>
            <a:avLst/>
            <a:gdLst/>
            <a:ahLst/>
            <a:cxnLst/>
            <a:rect r="r" b="b" t="t" l="l"/>
            <a:pathLst>
              <a:path h="3991555" w="8946026">
                <a:moveTo>
                  <a:pt x="0" y="0"/>
                </a:moveTo>
                <a:lnTo>
                  <a:pt x="8946026" y="0"/>
                </a:lnTo>
                <a:lnTo>
                  <a:pt x="8946026" y="3991555"/>
                </a:lnTo>
                <a:lnTo>
                  <a:pt x="0" y="3991555"/>
                </a:lnTo>
                <a:lnTo>
                  <a:pt x="0" y="0"/>
                </a:lnTo>
                <a:close/>
              </a:path>
            </a:pathLst>
          </a:custGeom>
          <a:blipFill>
            <a:blip r:embed="rId3"/>
            <a:stretch>
              <a:fillRect l="0" t="0" r="-2276" b="0"/>
            </a:stretch>
          </a:blipFill>
        </p:spPr>
      </p:sp>
      <p:sp>
        <p:nvSpPr>
          <p:cNvPr name="Freeform 4" id="4"/>
          <p:cNvSpPr/>
          <p:nvPr/>
        </p:nvSpPr>
        <p:spPr>
          <a:xfrm flipH="false" flipV="false" rot="0">
            <a:off x="9802413" y="3966567"/>
            <a:ext cx="8018819" cy="3991555"/>
          </a:xfrm>
          <a:custGeom>
            <a:avLst/>
            <a:gdLst/>
            <a:ahLst/>
            <a:cxnLst/>
            <a:rect r="r" b="b" t="t" l="l"/>
            <a:pathLst>
              <a:path h="3991555" w="8018819">
                <a:moveTo>
                  <a:pt x="0" y="0"/>
                </a:moveTo>
                <a:lnTo>
                  <a:pt x="8018819" y="0"/>
                </a:lnTo>
                <a:lnTo>
                  <a:pt x="8018819" y="3991555"/>
                </a:lnTo>
                <a:lnTo>
                  <a:pt x="0" y="3991555"/>
                </a:lnTo>
                <a:lnTo>
                  <a:pt x="0" y="0"/>
                </a:lnTo>
                <a:close/>
              </a:path>
            </a:pathLst>
          </a:custGeom>
          <a:blipFill>
            <a:blip r:embed="rId4"/>
            <a:stretch>
              <a:fillRect l="0" t="0" r="-17816" b="0"/>
            </a:stretch>
          </a:blipFill>
        </p:spPr>
      </p:sp>
      <p:sp>
        <p:nvSpPr>
          <p:cNvPr name="Freeform 5" id="5"/>
          <p:cNvSpPr/>
          <p:nvPr/>
        </p:nvSpPr>
        <p:spPr>
          <a:xfrm flipH="false" flipV="false" rot="0">
            <a:off x="15759800" y="1685395"/>
            <a:ext cx="1499500" cy="1499500"/>
          </a:xfrm>
          <a:custGeom>
            <a:avLst/>
            <a:gdLst/>
            <a:ahLst/>
            <a:cxnLst/>
            <a:rect r="r" b="b" t="t" l="l"/>
            <a:pathLst>
              <a:path h="1499500" w="1499500">
                <a:moveTo>
                  <a:pt x="0" y="0"/>
                </a:moveTo>
                <a:lnTo>
                  <a:pt x="1499500" y="0"/>
                </a:lnTo>
                <a:lnTo>
                  <a:pt x="1499500" y="1499500"/>
                </a:lnTo>
                <a:lnTo>
                  <a:pt x="0" y="14995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493405" y="1675870"/>
            <a:ext cx="11301191" cy="847725"/>
          </a:xfrm>
          <a:prstGeom prst="rect">
            <a:avLst/>
          </a:prstGeom>
        </p:spPr>
        <p:txBody>
          <a:bodyPr anchor="t" rtlCol="false" tIns="0" lIns="0" bIns="0" rIns="0">
            <a:spAutoFit/>
          </a:bodyPr>
          <a:lstStyle/>
          <a:p>
            <a:pPr algn="ctr" marL="0" indent="0" lvl="0">
              <a:lnSpc>
                <a:spcPts val="6600"/>
              </a:lnSpc>
            </a:pPr>
            <a:r>
              <a:rPr lang="en-US" sz="5500">
                <a:solidFill>
                  <a:srgbClr val="000000"/>
                </a:solidFill>
                <a:latin typeface="Amaranth"/>
                <a:ea typeface="Amaranth"/>
                <a:cs typeface="Amaranth"/>
                <a:sym typeface="Amaranth"/>
              </a:rPr>
              <a:t>DANS QUELLE ZONE S’IMPLANTER ?</a:t>
            </a:r>
          </a:p>
        </p:txBody>
      </p:sp>
      <p:sp>
        <p:nvSpPr>
          <p:cNvPr name="TextBox 7" id="7"/>
          <p:cNvSpPr txBox="true"/>
          <p:nvPr/>
        </p:nvSpPr>
        <p:spPr>
          <a:xfrm rot="0">
            <a:off x="9802413" y="3344142"/>
            <a:ext cx="6262968" cy="312423"/>
          </a:xfrm>
          <a:prstGeom prst="rect">
            <a:avLst/>
          </a:prstGeom>
        </p:spPr>
        <p:txBody>
          <a:bodyPr anchor="t" rtlCol="false" tIns="0" lIns="0" bIns="0" rIns="0">
            <a:spAutoFit/>
          </a:bodyPr>
          <a:lstStyle/>
          <a:p>
            <a:pPr algn="just">
              <a:lnSpc>
                <a:spcPts val="2563"/>
              </a:lnSpc>
            </a:pPr>
            <a:r>
              <a:rPr lang="en-US" sz="1830">
                <a:solidFill>
                  <a:srgbClr val="000000"/>
                </a:solidFill>
                <a:latin typeface="Questrial"/>
                <a:ea typeface="Questrial"/>
                <a:cs typeface="Questrial"/>
                <a:sym typeface="Questrial"/>
              </a:rPr>
              <a:t>=&gt; Locations par ville</a:t>
            </a:r>
          </a:p>
        </p:txBody>
      </p:sp>
      <p:sp>
        <p:nvSpPr>
          <p:cNvPr name="TextBox 8" id="8"/>
          <p:cNvSpPr txBox="true"/>
          <p:nvPr/>
        </p:nvSpPr>
        <p:spPr>
          <a:xfrm rot="0">
            <a:off x="631508" y="3481304"/>
            <a:ext cx="6262968" cy="312423"/>
          </a:xfrm>
          <a:prstGeom prst="rect">
            <a:avLst/>
          </a:prstGeom>
        </p:spPr>
        <p:txBody>
          <a:bodyPr anchor="t" rtlCol="false" tIns="0" lIns="0" bIns="0" rIns="0">
            <a:spAutoFit/>
          </a:bodyPr>
          <a:lstStyle/>
          <a:p>
            <a:pPr algn="just">
              <a:lnSpc>
                <a:spcPts val="2563"/>
              </a:lnSpc>
            </a:pPr>
            <a:r>
              <a:rPr lang="en-US" sz="1830">
                <a:solidFill>
                  <a:srgbClr val="000000"/>
                </a:solidFill>
                <a:latin typeface="Questrial"/>
                <a:ea typeface="Questrial"/>
                <a:cs typeface="Questrial"/>
                <a:sym typeface="Questrial"/>
              </a:rPr>
              <a:t>=&gt; Locations par pays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6090901" y="2189504"/>
            <a:ext cx="11773863" cy="6431473"/>
          </a:xfrm>
          <a:custGeom>
            <a:avLst/>
            <a:gdLst/>
            <a:ahLst/>
            <a:cxnLst/>
            <a:rect r="r" b="b" t="t" l="l"/>
            <a:pathLst>
              <a:path h="6431473" w="11773863">
                <a:moveTo>
                  <a:pt x="0" y="0"/>
                </a:moveTo>
                <a:lnTo>
                  <a:pt x="11773863" y="0"/>
                </a:lnTo>
                <a:lnTo>
                  <a:pt x="11773863" y="6431473"/>
                </a:lnTo>
                <a:lnTo>
                  <a:pt x="0" y="6431473"/>
                </a:lnTo>
                <a:lnTo>
                  <a:pt x="0" y="0"/>
                </a:lnTo>
                <a:close/>
              </a:path>
            </a:pathLst>
          </a:custGeom>
          <a:blipFill>
            <a:blip r:embed="rId3"/>
            <a:stretch>
              <a:fillRect l="0" t="0" r="0" b="0"/>
            </a:stretch>
          </a:blipFill>
        </p:spPr>
      </p:sp>
      <p:sp>
        <p:nvSpPr>
          <p:cNvPr name="TextBox 4" id="4"/>
          <p:cNvSpPr txBox="true"/>
          <p:nvPr/>
        </p:nvSpPr>
        <p:spPr>
          <a:xfrm rot="0">
            <a:off x="431110" y="2284696"/>
            <a:ext cx="4994658" cy="6193463"/>
          </a:xfrm>
          <a:prstGeom prst="rect">
            <a:avLst/>
          </a:prstGeom>
        </p:spPr>
        <p:txBody>
          <a:bodyPr anchor="t" rtlCol="false" tIns="0" lIns="0" bIns="0" rIns="0">
            <a:spAutoFit/>
          </a:bodyPr>
          <a:lstStyle/>
          <a:p>
            <a:pPr algn="l">
              <a:lnSpc>
                <a:spcPts val="2375"/>
              </a:lnSpc>
            </a:pPr>
            <a:r>
              <a:rPr lang="en-US" sz="1697">
                <a:solidFill>
                  <a:srgbClr val="000000"/>
                </a:solidFill>
                <a:latin typeface="Questrial"/>
                <a:ea typeface="Questrial"/>
                <a:cs typeface="Questrial"/>
                <a:sym typeface="Questrial"/>
              </a:rPr>
              <a:t>Une forte concentration de clients dans certaines villes ou pays, combinée à une faible ou inexistante présence de magasins, représente un potentiel marché inexploité. Certaines zones affichent un nombre élevé de clients, mais leur accès limité à des points de vente constitue une opportunité stratégique. Il serait pertinent de s’implanter dans les villes où la couverture en magasins est insuffisante malgré une forte concentration de clients.</a:t>
            </a:r>
          </a:p>
          <a:p>
            <a:pPr algn="l">
              <a:lnSpc>
                <a:spcPts val="2375"/>
              </a:lnSpc>
            </a:pPr>
          </a:p>
          <a:p>
            <a:pPr algn="l">
              <a:lnSpc>
                <a:spcPts val="2375"/>
              </a:lnSpc>
            </a:pPr>
            <a:r>
              <a:rPr lang="en-US" sz="1697">
                <a:solidFill>
                  <a:srgbClr val="000000"/>
                </a:solidFill>
                <a:latin typeface="Questrial"/>
                <a:ea typeface="Questrial"/>
                <a:cs typeface="Questrial"/>
                <a:sym typeface="Questrial"/>
              </a:rPr>
              <a:t> L’analyse des données peut également aider à identifier les zones sous-desservies ou à fort potentiel. Prioriser les zones urbaines densément peuplées permettrait de capitaliser sur une clientèle captive et une fréquence d’utilisation élevée des services. Par ailleurs, pour les clients résidant loin des magasins, l’extension des services de livraison ou de location en ligne pourrait répondre efficacement à leurs besoins.</a:t>
            </a:r>
          </a:p>
          <a:p>
            <a:pPr algn="just">
              <a:lnSpc>
                <a:spcPts val="2375"/>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09527" y="4127233"/>
            <a:ext cx="11301259" cy="1539797"/>
          </a:xfrm>
          <a:custGeom>
            <a:avLst/>
            <a:gdLst/>
            <a:ahLst/>
            <a:cxnLst/>
            <a:rect r="r" b="b" t="t" l="l"/>
            <a:pathLst>
              <a:path h="1539797" w="11301259">
                <a:moveTo>
                  <a:pt x="0" y="0"/>
                </a:moveTo>
                <a:lnTo>
                  <a:pt x="11301259" y="0"/>
                </a:lnTo>
                <a:lnTo>
                  <a:pt x="11301259" y="1539796"/>
                </a:lnTo>
                <a:lnTo>
                  <a:pt x="0" y="1539796"/>
                </a:lnTo>
                <a:lnTo>
                  <a:pt x="0" y="0"/>
                </a:lnTo>
                <a:close/>
              </a:path>
            </a:pathLst>
          </a:custGeom>
          <a:blipFill>
            <a:blip r:embed="rId3"/>
            <a:stretch>
              <a:fillRect l="0" t="0" r="0" b="0"/>
            </a:stretch>
          </a:blipFill>
        </p:spPr>
      </p:sp>
      <p:sp>
        <p:nvSpPr>
          <p:cNvPr name="Freeform 4" id="4"/>
          <p:cNvSpPr/>
          <p:nvPr/>
        </p:nvSpPr>
        <p:spPr>
          <a:xfrm flipH="false" flipV="false" rot="0">
            <a:off x="309527" y="6025660"/>
            <a:ext cx="11301259" cy="1836455"/>
          </a:xfrm>
          <a:custGeom>
            <a:avLst/>
            <a:gdLst/>
            <a:ahLst/>
            <a:cxnLst/>
            <a:rect r="r" b="b" t="t" l="l"/>
            <a:pathLst>
              <a:path h="1836455" w="11301259">
                <a:moveTo>
                  <a:pt x="0" y="0"/>
                </a:moveTo>
                <a:lnTo>
                  <a:pt x="11301259" y="0"/>
                </a:lnTo>
                <a:lnTo>
                  <a:pt x="11301259" y="1836455"/>
                </a:lnTo>
                <a:lnTo>
                  <a:pt x="0" y="1836455"/>
                </a:lnTo>
                <a:lnTo>
                  <a:pt x="0" y="0"/>
                </a:lnTo>
                <a:close/>
              </a:path>
            </a:pathLst>
          </a:custGeom>
          <a:blipFill>
            <a:blip r:embed="rId4"/>
            <a:stretch>
              <a:fillRect l="0" t="0" r="0" b="0"/>
            </a:stretch>
          </a:blipFill>
        </p:spPr>
      </p:sp>
      <p:sp>
        <p:nvSpPr>
          <p:cNvPr name="Freeform 5" id="5"/>
          <p:cNvSpPr/>
          <p:nvPr/>
        </p:nvSpPr>
        <p:spPr>
          <a:xfrm flipH="false" flipV="false" rot="0">
            <a:off x="12455983" y="3338878"/>
            <a:ext cx="4974320" cy="5373565"/>
          </a:xfrm>
          <a:custGeom>
            <a:avLst/>
            <a:gdLst/>
            <a:ahLst/>
            <a:cxnLst/>
            <a:rect r="r" b="b" t="t" l="l"/>
            <a:pathLst>
              <a:path h="5373565" w="4974320">
                <a:moveTo>
                  <a:pt x="0" y="0"/>
                </a:moveTo>
                <a:lnTo>
                  <a:pt x="4974320" y="0"/>
                </a:lnTo>
                <a:lnTo>
                  <a:pt x="4974320" y="5373565"/>
                </a:lnTo>
                <a:lnTo>
                  <a:pt x="0" y="5373565"/>
                </a:lnTo>
                <a:lnTo>
                  <a:pt x="0" y="0"/>
                </a:lnTo>
                <a:close/>
              </a:path>
            </a:pathLst>
          </a:custGeom>
          <a:blipFill>
            <a:blip r:embed="rId5"/>
            <a:stretch>
              <a:fillRect l="0" t="0" r="0" b="-18300"/>
            </a:stretch>
          </a:blipFill>
        </p:spPr>
      </p:sp>
      <p:sp>
        <p:nvSpPr>
          <p:cNvPr name="TextBox 6" id="6"/>
          <p:cNvSpPr txBox="true"/>
          <p:nvPr/>
        </p:nvSpPr>
        <p:spPr>
          <a:xfrm rot="0">
            <a:off x="3000667" y="1670962"/>
            <a:ext cx="12286666" cy="1685925"/>
          </a:xfrm>
          <a:prstGeom prst="rect">
            <a:avLst/>
          </a:prstGeom>
        </p:spPr>
        <p:txBody>
          <a:bodyPr anchor="t" rtlCol="false" tIns="0" lIns="0" bIns="0" rIns="0">
            <a:spAutoFit/>
          </a:bodyPr>
          <a:lstStyle/>
          <a:p>
            <a:pPr algn="ctr" marL="0" indent="0" lvl="0">
              <a:lnSpc>
                <a:spcPts val="6600"/>
              </a:lnSpc>
            </a:pPr>
            <a:r>
              <a:rPr lang="en-US" sz="5500">
                <a:solidFill>
                  <a:srgbClr val="000000"/>
                </a:solidFill>
                <a:latin typeface="Amaranth"/>
                <a:ea typeface="Amaranth"/>
                <a:cs typeface="Amaranth"/>
                <a:sym typeface="Amaranth"/>
              </a:rPr>
              <a:t>QUEL EST LE MONTANT MOYEN DÉPENSÉ PAR CLIENT ET PAR LOCATION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222230" y="5320981"/>
            <a:ext cx="2493819" cy="2899790"/>
          </a:xfrm>
          <a:custGeom>
            <a:avLst/>
            <a:gdLst/>
            <a:ahLst/>
            <a:cxnLst/>
            <a:rect r="r" b="b" t="t" l="l"/>
            <a:pathLst>
              <a:path h="2899790" w="2493819">
                <a:moveTo>
                  <a:pt x="0" y="0"/>
                </a:moveTo>
                <a:lnTo>
                  <a:pt x="2493819" y="0"/>
                </a:lnTo>
                <a:lnTo>
                  <a:pt x="2493819" y="2899789"/>
                </a:lnTo>
                <a:lnTo>
                  <a:pt x="0" y="28997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91048" y="2444069"/>
            <a:ext cx="2756183" cy="2224991"/>
          </a:xfrm>
          <a:custGeom>
            <a:avLst/>
            <a:gdLst/>
            <a:ahLst/>
            <a:cxnLst/>
            <a:rect r="r" b="b" t="t" l="l"/>
            <a:pathLst>
              <a:path h="2224991" w="2756183">
                <a:moveTo>
                  <a:pt x="0" y="0"/>
                </a:moveTo>
                <a:lnTo>
                  <a:pt x="2756183" y="0"/>
                </a:lnTo>
                <a:lnTo>
                  <a:pt x="2756183" y="2224991"/>
                </a:lnTo>
                <a:lnTo>
                  <a:pt x="0" y="22249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4941656" y="5143500"/>
            <a:ext cx="11045977" cy="2775302"/>
          </a:xfrm>
          <a:custGeom>
            <a:avLst/>
            <a:gdLst/>
            <a:ahLst/>
            <a:cxnLst/>
            <a:rect r="r" b="b" t="t" l="l"/>
            <a:pathLst>
              <a:path h="2775302" w="11045977">
                <a:moveTo>
                  <a:pt x="0" y="0"/>
                </a:moveTo>
                <a:lnTo>
                  <a:pt x="11045977" y="0"/>
                </a:lnTo>
                <a:lnTo>
                  <a:pt x="11045977" y="2775302"/>
                </a:lnTo>
                <a:lnTo>
                  <a:pt x="0" y="2775302"/>
                </a:lnTo>
                <a:lnTo>
                  <a:pt x="0" y="0"/>
                </a:lnTo>
                <a:close/>
              </a:path>
            </a:pathLst>
          </a:custGeom>
          <a:blipFill>
            <a:blip r:embed="rId7"/>
            <a:stretch>
              <a:fillRect l="0" t="0" r="0" b="0"/>
            </a:stretch>
          </a:blipFill>
        </p:spPr>
      </p:sp>
      <p:sp>
        <p:nvSpPr>
          <p:cNvPr name="TextBox 6" id="6"/>
          <p:cNvSpPr txBox="true"/>
          <p:nvPr/>
        </p:nvSpPr>
        <p:spPr>
          <a:xfrm rot="0">
            <a:off x="4941656" y="2308994"/>
            <a:ext cx="11060295" cy="2360065"/>
          </a:xfrm>
          <a:prstGeom prst="rect">
            <a:avLst/>
          </a:prstGeom>
        </p:spPr>
        <p:txBody>
          <a:bodyPr anchor="t" rtlCol="false" tIns="0" lIns="0" bIns="0" rIns="0">
            <a:spAutoFit/>
          </a:bodyPr>
          <a:lstStyle/>
          <a:p>
            <a:pPr algn="just">
              <a:lnSpc>
                <a:spcPts val="3124"/>
              </a:lnSpc>
            </a:pPr>
            <a:r>
              <a:rPr lang="en-US" sz="2231">
                <a:solidFill>
                  <a:srgbClr val="000000"/>
                </a:solidFill>
                <a:latin typeface="Questrial"/>
                <a:ea typeface="Questrial"/>
                <a:cs typeface="Questrial"/>
                <a:sym typeface="Questrial"/>
              </a:rPr>
              <a:t>Un montant moyen de dépense de 4,2 euros reflète une certaine stabilité dans le comportement de location des clients. Pour maintenir ce niveau, il serait judicieux de proposer des offres incitatives telles que des abonnements ou des remises sur des locations multiples. Parallèlement, des opportunités pour augmenter le panier moyen pourraient être explorées, notamment en offrant des options premium, des snacks ou des produits dérivés.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42044" y="3513806"/>
            <a:ext cx="11861605" cy="5031266"/>
          </a:xfrm>
          <a:prstGeom prst="rect">
            <a:avLst/>
          </a:prstGeom>
        </p:spPr>
        <p:txBody>
          <a:bodyPr anchor="t" rtlCol="false" tIns="0" lIns="0" bIns="0" rIns="0">
            <a:spAutoFit/>
          </a:bodyPr>
          <a:lstStyle/>
          <a:p>
            <a:pPr algn="just">
              <a:lnSpc>
                <a:spcPts val="2511"/>
              </a:lnSpc>
            </a:pPr>
            <a:r>
              <a:rPr lang="en-US" sz="1793">
                <a:solidFill>
                  <a:srgbClr val="000000"/>
                </a:solidFill>
                <a:latin typeface="Questrial"/>
                <a:ea typeface="Questrial"/>
                <a:cs typeface="Questrial"/>
                <a:sym typeface="Questrial"/>
              </a:rPr>
              <a:t>Les données montrent que le mardi est le jour où les locations sont les plus nombreuses. Cela offre une opportunité de renforcer les efforts marketing ou de proposer des promotions spécifiques ce jour-là. De plus, l’après-midi qui prédomine en nombre de locations permet de concentrer les ressources sur ces créneaux horaires pour maximiser les revenus et satisfaire la demande des clients. En optimisant les jours et horaires d’ouverture en fonction de ces pics d’activité, les magasins peuvent augmenter leur rentabilité tout en réduisant les périodes de faible activité.</a:t>
            </a:r>
          </a:p>
          <a:p>
            <a:pPr algn="just">
              <a:lnSpc>
                <a:spcPts val="2511"/>
              </a:lnSpc>
            </a:pPr>
          </a:p>
          <a:p>
            <a:pPr algn="just">
              <a:lnSpc>
                <a:spcPts val="2511"/>
              </a:lnSpc>
            </a:pPr>
            <a:r>
              <a:rPr lang="en-US" sz="1793">
                <a:solidFill>
                  <a:srgbClr val="000000"/>
                </a:solidFill>
                <a:latin typeface="Questrial"/>
                <a:ea typeface="Questrial"/>
                <a:cs typeface="Questrial"/>
                <a:sym typeface="Questrial"/>
              </a:rPr>
              <a:t>Cependant, focaliser les efforts uniquement sur des jours ou horaires spécifiques peut entraîner une perte d’opportunités sur d’autres plages horaires ou jours moins populaires. Par exemple, ne pas investir dans des promotions en fin de semaine ou le matin pourrait priver l’entreprise de clients qui préfèrent louer à ces moments. Aussi, réduire les plages horaires moins rentables peut frustrer certains clients, surtout ceux avec des habitudes différentes, et risquer de les détourner vers des concurrents.</a:t>
            </a:r>
          </a:p>
          <a:p>
            <a:pPr algn="just">
              <a:lnSpc>
                <a:spcPts val="2511"/>
              </a:lnSpc>
            </a:pPr>
          </a:p>
          <a:p>
            <a:pPr algn="just">
              <a:lnSpc>
                <a:spcPts val="2511"/>
              </a:lnSpc>
            </a:pPr>
            <a:r>
              <a:rPr lang="en-US" sz="1793">
                <a:solidFill>
                  <a:srgbClr val="000000"/>
                </a:solidFill>
                <a:latin typeface="Questrial"/>
                <a:ea typeface="Questrial"/>
                <a:cs typeface="Questrial"/>
                <a:sym typeface="Questrial"/>
              </a:rPr>
              <a:t>Privilégier certains jours et plages horaires est une stratégie judicieuse pour maximiser les résultats à court terme, en tirant parti des habitudes dominantes des clients. Cependant, il est essentiel de conserver une flexibilité en offrant un service de qualité sur d'autres jours et horaires, notamment pour attirer et fidéliser une clientèle plus variée.</a:t>
            </a:r>
          </a:p>
          <a:p>
            <a:pPr algn="just">
              <a:lnSpc>
                <a:spcPts val="2511"/>
              </a:lnSpc>
            </a:pPr>
          </a:p>
        </p:txBody>
      </p:sp>
      <p:sp>
        <p:nvSpPr>
          <p:cNvPr name="Freeform 4" id="4"/>
          <p:cNvSpPr/>
          <p:nvPr/>
        </p:nvSpPr>
        <p:spPr>
          <a:xfrm flipH="false" flipV="false" rot="0">
            <a:off x="13288217" y="3923275"/>
            <a:ext cx="4690932" cy="3345979"/>
          </a:xfrm>
          <a:custGeom>
            <a:avLst/>
            <a:gdLst/>
            <a:ahLst/>
            <a:cxnLst/>
            <a:rect r="r" b="b" t="t" l="l"/>
            <a:pathLst>
              <a:path h="3345979" w="4690932">
                <a:moveTo>
                  <a:pt x="0" y="0"/>
                </a:moveTo>
                <a:lnTo>
                  <a:pt x="4690932" y="0"/>
                </a:lnTo>
                <a:lnTo>
                  <a:pt x="4690932" y="3345980"/>
                </a:lnTo>
                <a:lnTo>
                  <a:pt x="0" y="3345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938810" y="1630904"/>
            <a:ext cx="12410380" cy="1685925"/>
          </a:xfrm>
          <a:prstGeom prst="rect">
            <a:avLst/>
          </a:prstGeom>
        </p:spPr>
        <p:txBody>
          <a:bodyPr anchor="t" rtlCol="false" tIns="0" lIns="0" bIns="0" rIns="0">
            <a:spAutoFit/>
          </a:bodyPr>
          <a:lstStyle/>
          <a:p>
            <a:pPr algn="ctr" marL="0" indent="0" lvl="0">
              <a:lnSpc>
                <a:spcPts val="6600"/>
              </a:lnSpc>
              <a:spcBef>
                <a:spcPct val="0"/>
              </a:spcBef>
            </a:pPr>
            <a:r>
              <a:rPr lang="en-US" sz="5500">
                <a:solidFill>
                  <a:srgbClr val="000000"/>
                </a:solidFill>
                <a:latin typeface="Amaranth"/>
                <a:ea typeface="Amaranth"/>
                <a:cs typeface="Amaranth"/>
                <a:sym typeface="Amaranth"/>
              </a:rPr>
              <a:t>FAUT-IL PRIVILÉGIER DES JOURS ET / OU HORAIRES D’OUVERTURE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799896" y="4394047"/>
            <a:ext cx="8688208" cy="1714500"/>
          </a:xfrm>
          <a:prstGeom prst="rect">
            <a:avLst/>
          </a:prstGeom>
        </p:spPr>
        <p:txBody>
          <a:bodyPr anchor="t" rtlCol="false" tIns="0" lIns="0" bIns="0" rIns="0">
            <a:spAutoFit/>
          </a:bodyPr>
          <a:lstStyle/>
          <a:p>
            <a:pPr algn="ctr" marL="0" indent="0" lvl="0">
              <a:lnSpc>
                <a:spcPts val="12000"/>
              </a:lnSpc>
            </a:pPr>
            <a:r>
              <a:rPr lang="en-US" sz="15000" spc="450">
                <a:solidFill>
                  <a:srgbClr val="000000"/>
                </a:solidFill>
                <a:latin typeface="Amaranth"/>
                <a:ea typeface="Amaranth"/>
                <a:cs typeface="Amaranth"/>
                <a:sym typeface="Amaranth"/>
              </a:rPr>
              <a:t>MERCI !</a:t>
            </a:r>
          </a:p>
        </p:txBody>
      </p:sp>
      <p:sp>
        <p:nvSpPr>
          <p:cNvPr name="Freeform 4" id="4"/>
          <p:cNvSpPr/>
          <p:nvPr/>
        </p:nvSpPr>
        <p:spPr>
          <a:xfrm flipH="false" flipV="false" rot="0">
            <a:off x="-3684062" y="-1985636"/>
            <a:ext cx="9425525" cy="8979955"/>
          </a:xfrm>
          <a:custGeom>
            <a:avLst/>
            <a:gdLst/>
            <a:ahLst/>
            <a:cxnLst/>
            <a:rect r="r" b="b" t="t" l="l"/>
            <a:pathLst>
              <a:path h="8979955" w="9425525">
                <a:moveTo>
                  <a:pt x="0" y="0"/>
                </a:moveTo>
                <a:lnTo>
                  <a:pt x="9425524" y="0"/>
                </a:lnTo>
                <a:lnTo>
                  <a:pt x="9425524" y="8979954"/>
                </a:lnTo>
                <a:lnTo>
                  <a:pt x="0" y="89799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2715648" y="-292253"/>
            <a:ext cx="6796216" cy="4114800"/>
          </a:xfrm>
          <a:custGeom>
            <a:avLst/>
            <a:gdLst/>
            <a:ahLst/>
            <a:cxnLst/>
            <a:rect r="r" b="b" t="t" l="l"/>
            <a:pathLst>
              <a:path h="4114800" w="6796216">
                <a:moveTo>
                  <a:pt x="0" y="0"/>
                </a:moveTo>
                <a:lnTo>
                  <a:pt x="6796216" y="0"/>
                </a:lnTo>
                <a:lnTo>
                  <a:pt x="679621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362269" y="8557519"/>
            <a:ext cx="5502974" cy="2621417"/>
          </a:xfrm>
          <a:custGeom>
            <a:avLst/>
            <a:gdLst/>
            <a:ahLst/>
            <a:cxnLst/>
            <a:rect r="r" b="b" t="t" l="l"/>
            <a:pathLst>
              <a:path h="2621417" w="5502974">
                <a:moveTo>
                  <a:pt x="0" y="0"/>
                </a:moveTo>
                <a:lnTo>
                  <a:pt x="5502974" y="0"/>
                </a:lnTo>
                <a:lnTo>
                  <a:pt x="5502974" y="2621417"/>
                </a:lnTo>
                <a:lnTo>
                  <a:pt x="0" y="26214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DAGckaHQ-dM</dc:identifier>
  <dcterms:modified xsi:type="dcterms:W3CDTF">2011-08-01T06:04:30Z</dcterms:modified>
  <cp:revision>1</cp:revision>
  <dc:title>SAE Reporting</dc:title>
</cp:coreProperties>
</file>